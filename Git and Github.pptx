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73" r:id="rId25"/>
    <p:sldId id="280" r:id="rId26"/>
    <p:sldId id="281" r:id="rId27"/>
    <p:sldId id="282" r:id="rId28"/>
    <p:sldId id="283" r:id="rId29"/>
    <p:sldId id="284" r:id="rId30"/>
    <p:sldId id="285" r:id="rId31"/>
    <p:sldId id="288" r:id="rId32"/>
    <p:sldId id="289" r:id="rId33"/>
    <p:sldId id="290" r:id="rId34"/>
    <p:sldId id="291" r:id="rId35"/>
    <p:sldId id="292" r:id="rId36"/>
    <p:sldId id="294" r:id="rId37"/>
    <p:sldId id="293" r:id="rId38"/>
    <p:sldId id="295" r:id="rId39"/>
    <p:sldId id="296" r:id="rId40"/>
    <p:sldId id="297" r:id="rId41"/>
    <p:sldId id="287" r:id="rId4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83FE-188F-4918-9786-103AF3A891DC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90308-A80C-4B3D-958F-7DAC576E4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74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83FE-188F-4918-9786-103AF3A891DC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90308-A80C-4B3D-958F-7DAC576E4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3079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83FE-188F-4918-9786-103AF3A891DC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90308-A80C-4B3D-958F-7DAC576E4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8644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83FE-188F-4918-9786-103AF3A891DC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90308-A80C-4B3D-958F-7DAC576E4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89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83FE-188F-4918-9786-103AF3A891DC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90308-A80C-4B3D-958F-7DAC576E4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4225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83FE-188F-4918-9786-103AF3A891DC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90308-A80C-4B3D-958F-7DAC576E4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2243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83FE-188F-4918-9786-103AF3A891DC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90308-A80C-4B3D-958F-7DAC576E4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4607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83FE-188F-4918-9786-103AF3A891DC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90308-A80C-4B3D-958F-7DAC576E4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6718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83FE-188F-4918-9786-103AF3A891DC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90308-A80C-4B3D-958F-7DAC576E4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8224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83FE-188F-4918-9786-103AF3A891DC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90308-A80C-4B3D-958F-7DAC576E4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228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83FE-188F-4918-9786-103AF3A891DC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90308-A80C-4B3D-958F-7DAC576E4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924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83FE-188F-4918-9786-103AF3A891DC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90308-A80C-4B3D-958F-7DAC576E4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632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hyperlink" Target="https://git-scm.com/download/wi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/>
              <a:t>Git</a:t>
            </a:r>
            <a:r>
              <a:rPr lang="en-US" altLang="zh-TW" dirty="0"/>
              <a:t> and </a:t>
            </a:r>
            <a:r>
              <a:rPr lang="en-US" altLang="zh-TW" dirty="0" err="1"/>
              <a:t>Github</a:t>
            </a:r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David C. Li</a:t>
            </a:r>
          </a:p>
          <a:p>
            <a:r>
              <a:rPr lang="en-US" altLang="zh-TW" dirty="0"/>
              <a:t>2023/03/09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4841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err="1"/>
              <a:t>Git</a:t>
            </a:r>
            <a:r>
              <a:rPr lang="en-US" altLang="zh-TW" dirty="0"/>
              <a:t> is a free and open source distributed version control system designed to handle everything from small to very large projects with speed and efficiency.</a:t>
            </a:r>
          </a:p>
          <a:p>
            <a:r>
              <a:rPr lang="en-US" altLang="zh-TW" dirty="0">
                <a:hlinkClick r:id="rId2"/>
              </a:rPr>
              <a:t>https://git-scm.com/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7081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is </a:t>
            </a:r>
            <a:r>
              <a:rPr lang="en-US" altLang="zh-TW" dirty="0" err="1"/>
              <a:t>Git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It is a version-control system (VCS) for tracking change in your </a:t>
            </a:r>
            <a:r>
              <a:rPr lang="en-US" altLang="zh-TW" dirty="0" err="1"/>
              <a:t>coputer</a:t>
            </a:r>
            <a:r>
              <a:rPr lang="en-US" altLang="zh-TW" dirty="0"/>
              <a:t> files (programs codes, datasets, files, logs….)</a:t>
            </a:r>
          </a:p>
          <a:p>
            <a:r>
              <a:rPr lang="en-US" altLang="zh-TW" dirty="0"/>
              <a:t>Distributed version control</a:t>
            </a:r>
          </a:p>
          <a:p>
            <a:r>
              <a:rPr lang="en-US" altLang="zh-TW" dirty="0"/>
              <a:t>Coordinate work between multiple developers</a:t>
            </a:r>
          </a:p>
          <a:p>
            <a:r>
              <a:rPr lang="en-US" altLang="zh-TW" dirty="0"/>
              <a:t>Help us to track who made, when change, what change</a:t>
            </a:r>
          </a:p>
          <a:p>
            <a:r>
              <a:rPr lang="en-US" altLang="zh-TW" dirty="0"/>
              <a:t>Revert back at any time</a:t>
            </a:r>
          </a:p>
          <a:p>
            <a:r>
              <a:rPr lang="en-US" altLang="zh-TW" dirty="0"/>
              <a:t>Local &amp; remote repository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9400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Important concepts of </a:t>
            </a:r>
            <a:r>
              <a:rPr lang="en-US" altLang="zh-TW" dirty="0" err="1"/>
              <a:t>Git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Keep track of code history</a:t>
            </a:r>
          </a:p>
          <a:p>
            <a:r>
              <a:rPr lang="en-US" altLang="zh-TW" dirty="0"/>
              <a:t>Take “snapshots” of your files</a:t>
            </a:r>
          </a:p>
          <a:p>
            <a:r>
              <a:rPr lang="en-US" altLang="zh-TW" dirty="0"/>
              <a:t>You can decide when to take a snapshot by making a “commit”</a:t>
            </a:r>
          </a:p>
          <a:p>
            <a:r>
              <a:rPr lang="en-US" altLang="zh-TW" dirty="0"/>
              <a:t>You can visit any snapshots at any time</a:t>
            </a:r>
          </a:p>
          <a:p>
            <a:r>
              <a:rPr lang="en-US" altLang="zh-TW" dirty="0"/>
              <a:t>You can stage file before committing (stage means you temporary save your file in the workspaces before committing)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28900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Download the </a:t>
            </a:r>
            <a:r>
              <a:rPr lang="en-US" altLang="zh-TW" dirty="0" err="1"/>
              <a:t>Git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https://git-scm.com/download/win</a:t>
            </a:r>
            <a:endParaRPr lang="en-US" altLang="zh-TW" dirty="0"/>
          </a:p>
          <a:p>
            <a:r>
              <a:rPr lang="en-US" altLang="zh-TW" dirty="0">
                <a:hlinkClick r:id="rId3"/>
              </a:rPr>
              <a:t>https://git-scm.com/</a:t>
            </a:r>
            <a:r>
              <a:rPr lang="en-US" altLang="zh-TW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5511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Install the </a:t>
            </a:r>
            <a:r>
              <a:rPr lang="en-US" altLang="zh-TW" dirty="0" err="1"/>
              <a:t>git</a:t>
            </a:r>
            <a:r>
              <a:rPr lang="en-US" altLang="zh-TW" dirty="0"/>
              <a:t> on your computer</a:t>
            </a:r>
            <a:endParaRPr lang="zh-TW" alt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047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74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37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52400"/>
            <a:ext cx="11163300" cy="627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48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the </a:t>
            </a:r>
            <a:r>
              <a:rPr lang="en-US" altLang="zh-TW" dirty="0" err="1"/>
              <a:t>Git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420" y="1490345"/>
            <a:ext cx="10515600" cy="4351338"/>
          </a:xfrm>
        </p:spPr>
        <p:txBody>
          <a:bodyPr/>
          <a:lstStyle/>
          <a:p>
            <a:r>
              <a:rPr lang="en-US" altLang="zh-TW" b="1" dirty="0"/>
              <a:t>Step 1</a:t>
            </a:r>
            <a:r>
              <a:rPr lang="en-US" altLang="zh-TW" dirty="0"/>
              <a:t>:  initialize your project folder as </a:t>
            </a:r>
            <a:r>
              <a:rPr lang="en-US" altLang="zh-TW" sz="4000" b="1" dirty="0">
                <a:solidFill>
                  <a:srgbClr val="0070C0"/>
                </a:solidFill>
              </a:rPr>
              <a:t>a local repository</a:t>
            </a:r>
            <a:r>
              <a:rPr lang="en-US" altLang="zh-TW" dirty="0"/>
              <a:t>, by typing command: </a:t>
            </a:r>
            <a:r>
              <a:rPr lang="en-US" altLang="zh-TW" sz="6000" dirty="0" err="1">
                <a:solidFill>
                  <a:srgbClr val="FF0000"/>
                </a:solidFill>
              </a:rPr>
              <a:t>git</a:t>
            </a:r>
            <a:r>
              <a:rPr lang="en-US" altLang="zh-TW" sz="6000" dirty="0">
                <a:solidFill>
                  <a:srgbClr val="FF0000"/>
                </a:solidFill>
              </a:rPr>
              <a:t> </a:t>
            </a:r>
            <a:r>
              <a:rPr lang="en-US" altLang="zh-TW" sz="6000" dirty="0" err="1">
                <a:solidFill>
                  <a:srgbClr val="FF0000"/>
                </a:solidFill>
              </a:rPr>
              <a:t>init</a:t>
            </a:r>
            <a:endParaRPr lang="zh-TW" altLang="en-US" sz="60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171" y="2705100"/>
            <a:ext cx="10276114" cy="57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9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913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839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241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38286" y="495579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</a:rPr>
              <a:t>Initialized empty 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</a:rPr>
              <a:t>Git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</a:rPr>
              <a:t> repository in D:/David/2023/SoftwareEngineering/gitDemo2023/.git/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86" y="163286"/>
            <a:ext cx="11901714" cy="669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493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75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Configure your local repository 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Step 2: we configure our local repository  by using the command </a:t>
            </a:r>
          </a:p>
          <a:p>
            <a:r>
              <a:rPr lang="en-US" altLang="zh-TW" dirty="0" err="1">
                <a:highlight>
                  <a:srgbClr val="FFFF00"/>
                </a:highlight>
              </a:rPr>
              <a:t>git</a:t>
            </a:r>
            <a:r>
              <a:rPr lang="en-US" altLang="zh-TW" dirty="0">
                <a:highlight>
                  <a:srgbClr val="FFFF00"/>
                </a:highlight>
              </a:rPr>
              <a:t> </a:t>
            </a:r>
            <a:r>
              <a:rPr lang="en-US" altLang="zh-TW" dirty="0" err="1">
                <a:highlight>
                  <a:srgbClr val="FFFF00"/>
                </a:highlight>
              </a:rPr>
              <a:t>config</a:t>
            </a:r>
            <a:r>
              <a:rPr lang="en-US" altLang="zh-TW" dirty="0">
                <a:highlight>
                  <a:srgbClr val="FFFF00"/>
                </a:highlight>
              </a:rPr>
              <a:t> --global user.name "David C. Li“</a:t>
            </a:r>
          </a:p>
          <a:p>
            <a:r>
              <a:rPr lang="en-US" altLang="zh-TW" dirty="0"/>
              <a:t> </a:t>
            </a:r>
            <a:r>
              <a:rPr lang="en-US" altLang="zh-TW" dirty="0" err="1">
                <a:highlight>
                  <a:srgbClr val="FFFF00"/>
                </a:highlight>
              </a:rPr>
              <a:t>git</a:t>
            </a:r>
            <a:r>
              <a:rPr lang="en-US" altLang="zh-TW" dirty="0">
                <a:highlight>
                  <a:srgbClr val="FFFF00"/>
                </a:highlight>
              </a:rPr>
              <a:t> </a:t>
            </a:r>
            <a:r>
              <a:rPr lang="en-US" altLang="zh-TW" dirty="0" err="1">
                <a:highlight>
                  <a:srgbClr val="FFFF00"/>
                </a:highlight>
              </a:rPr>
              <a:t>config</a:t>
            </a:r>
            <a:r>
              <a:rPr lang="en-US" altLang="zh-TW" dirty="0">
                <a:highlight>
                  <a:srgbClr val="FFFF00"/>
                </a:highlight>
              </a:rPr>
              <a:t> --global </a:t>
            </a:r>
            <a:r>
              <a:rPr lang="en-US" altLang="zh-TW" dirty="0" err="1">
                <a:highlight>
                  <a:srgbClr val="FFFF00"/>
                </a:highlight>
              </a:rPr>
              <a:t>user.email</a:t>
            </a:r>
            <a:r>
              <a:rPr lang="en-US" altLang="zh-TW" dirty="0">
                <a:highlight>
                  <a:srgbClr val="FFFF00"/>
                </a:highlight>
              </a:rPr>
              <a:t> "</a:t>
            </a:r>
            <a:r>
              <a:rPr lang="en-US" altLang="zh-TW" b="1" dirty="0">
                <a:highlight>
                  <a:srgbClr val="FFFF00"/>
                </a:highlight>
              </a:rPr>
              <a:t>sunnydavidli@gmail.com</a:t>
            </a:r>
            <a:r>
              <a:rPr lang="en-US" altLang="zh-TW" dirty="0">
                <a:highlight>
                  <a:srgbClr val="FFFF00"/>
                </a:highlight>
              </a:rPr>
              <a:t>"</a:t>
            </a:r>
          </a:p>
          <a:p>
            <a:r>
              <a:rPr lang="en-US" altLang="zh-TW" dirty="0"/>
              <a:t>In here, the email is the one you will sign in the GitHub</a:t>
            </a:r>
          </a:p>
        </p:txBody>
      </p:sp>
    </p:spTree>
    <p:extLst>
      <p:ext uri="{BB962C8B-B14F-4D97-AF65-F5344CB8AC3E}">
        <p14:creationId xmlns:p14="http://schemas.microsoft.com/office/powerpoint/2010/main" val="774943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49" y="0"/>
            <a:ext cx="11792051" cy="663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8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 check the configuration of </a:t>
            </a:r>
            <a:r>
              <a:rPr lang="en-US" altLang="zh-TW" dirty="0" err="1"/>
              <a:t>Git</a:t>
            </a:r>
            <a:r>
              <a:rPr lang="en-US" altLang="zh-TW" dirty="0"/>
              <a:t> on your local repository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Git</a:t>
            </a:r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1" y="1690688"/>
            <a:ext cx="8389258" cy="471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0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Concepts of </a:t>
            </a:r>
            <a:r>
              <a:rPr lang="en-US" altLang="zh-TW" dirty="0" err="1"/>
              <a:t>Git</a:t>
            </a:r>
            <a:r>
              <a:rPr lang="en-US" altLang="zh-TW" dirty="0"/>
              <a:t> work flow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742" y="1393363"/>
            <a:ext cx="10515600" cy="4351338"/>
          </a:xfrm>
        </p:spPr>
        <p:txBody>
          <a:bodyPr/>
          <a:lstStyle/>
          <a:p>
            <a:r>
              <a:rPr lang="en-US" altLang="zh-TW" dirty="0"/>
              <a:t>Local repository is like your local project folder.</a:t>
            </a:r>
          </a:p>
          <a:p>
            <a:endParaRPr lang="zh-TW" altLang="en-US" dirty="0"/>
          </a:p>
        </p:txBody>
      </p:sp>
      <p:sp>
        <p:nvSpPr>
          <p:cNvPr id="4" name="Flowchart: Document 3"/>
          <p:cNvSpPr/>
          <p:nvPr/>
        </p:nvSpPr>
        <p:spPr>
          <a:xfrm>
            <a:off x="7990764" y="2743047"/>
            <a:ext cx="2959331" cy="215299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Local project folder (gitDemo2023):</a:t>
            </a:r>
          </a:p>
          <a:p>
            <a:pPr algn="ctr"/>
            <a:r>
              <a:rPr lang="en-US" altLang="zh-TW" dirty="0"/>
              <a:t>Python files, text file, figures, logs…</a:t>
            </a:r>
            <a:endParaRPr lang="zh-TW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785167" y="2373715"/>
            <a:ext cx="218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Workspace</a:t>
            </a:r>
            <a:endParaRPr lang="zh-TW" altLang="en-US" dirty="0"/>
          </a:p>
        </p:txBody>
      </p:sp>
      <p:sp>
        <p:nvSpPr>
          <p:cNvPr id="7" name="Flowchart: Magnetic Disk 6"/>
          <p:cNvSpPr/>
          <p:nvPr/>
        </p:nvSpPr>
        <p:spPr>
          <a:xfrm>
            <a:off x="2527069" y="2443942"/>
            <a:ext cx="2011680" cy="1862051"/>
          </a:xfrm>
          <a:prstGeom prst="flowChartMagneticDisk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002060"/>
                </a:solidFill>
              </a:rPr>
              <a:t>Local Repository</a:t>
            </a:r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52996" y="2036618"/>
            <a:ext cx="9200804" cy="4513811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Rounded Rectangle 8"/>
          <p:cNvSpPr/>
          <p:nvPr/>
        </p:nvSpPr>
        <p:spPr>
          <a:xfrm>
            <a:off x="5029200" y="4440607"/>
            <a:ext cx="2369976" cy="210473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Stage (index)</a:t>
            </a:r>
          </a:p>
          <a:p>
            <a:pPr algn="ctr"/>
            <a:r>
              <a:rPr lang="en-US" altLang="zh-TW" dirty="0"/>
              <a:t>Temporary save any new changed items</a:t>
            </a:r>
            <a:endParaRPr lang="zh-TW" altLang="en-US" dirty="0"/>
          </a:p>
        </p:txBody>
      </p:sp>
      <p:sp>
        <p:nvSpPr>
          <p:cNvPr id="10" name="Bent-Up Arrow 9"/>
          <p:cNvSpPr/>
          <p:nvPr/>
        </p:nvSpPr>
        <p:spPr>
          <a:xfrm rot="5218017" flipV="1">
            <a:off x="7703631" y="4159702"/>
            <a:ext cx="1686184" cy="2475541"/>
          </a:xfrm>
          <a:prstGeom prst="bent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546723" y="5560035"/>
            <a:ext cx="161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git</a:t>
            </a:r>
            <a:r>
              <a:rPr lang="en-US" altLang="zh-TW" dirty="0"/>
              <a:t> add …</a:t>
            </a:r>
            <a:endParaRPr lang="zh-TW" altLang="en-US" dirty="0"/>
          </a:p>
        </p:txBody>
      </p:sp>
      <p:sp>
        <p:nvSpPr>
          <p:cNvPr id="12" name="Left Arrow 11"/>
          <p:cNvSpPr/>
          <p:nvPr/>
        </p:nvSpPr>
        <p:spPr>
          <a:xfrm rot="2840463">
            <a:off x="3102650" y="4440607"/>
            <a:ext cx="1823913" cy="956865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464629" y="5016736"/>
            <a:ext cx="161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Commit </a:t>
            </a:r>
            <a:endParaRPr lang="zh-TW" altLang="en-US" dirty="0"/>
          </a:p>
        </p:txBody>
      </p:sp>
      <p:sp>
        <p:nvSpPr>
          <p:cNvPr id="14" name="Snip Diagonal Corner Rectangle 13"/>
          <p:cNvSpPr/>
          <p:nvPr/>
        </p:nvSpPr>
        <p:spPr>
          <a:xfrm>
            <a:off x="9637167" y="4089719"/>
            <a:ext cx="2479848" cy="882669"/>
          </a:xfrm>
          <a:prstGeom prst="snip2Diag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AnotherModule.py</a:t>
            </a:r>
          </a:p>
        </p:txBody>
      </p:sp>
      <p:sp>
        <p:nvSpPr>
          <p:cNvPr id="15" name="Snip Diagonal Corner Rectangle 14"/>
          <p:cNvSpPr/>
          <p:nvPr/>
        </p:nvSpPr>
        <p:spPr>
          <a:xfrm>
            <a:off x="5136525" y="5838867"/>
            <a:ext cx="2479848" cy="882669"/>
          </a:xfrm>
          <a:prstGeom prst="snip2Diag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Hello.py</a:t>
            </a:r>
          </a:p>
        </p:txBody>
      </p:sp>
      <p:sp>
        <p:nvSpPr>
          <p:cNvPr id="16" name="Snip Diagonal Corner Rectangle 15"/>
          <p:cNvSpPr/>
          <p:nvPr/>
        </p:nvSpPr>
        <p:spPr>
          <a:xfrm>
            <a:off x="3734340" y="2373715"/>
            <a:ext cx="2479848" cy="882669"/>
          </a:xfrm>
          <a:prstGeom prst="snip2Diag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HelloGit.py</a:t>
            </a:r>
          </a:p>
          <a:p>
            <a:pPr algn="ctr"/>
            <a:r>
              <a:rPr lang="en-US" altLang="zh-TW" dirty="0"/>
              <a:t>AnotherModule.py</a:t>
            </a:r>
          </a:p>
          <a:p>
            <a:pPr algn="ctr"/>
            <a:r>
              <a:rPr lang="en-US" altLang="zh-TW" dirty="0"/>
              <a:t>DataAnalysis.py</a:t>
            </a:r>
          </a:p>
        </p:txBody>
      </p:sp>
    </p:spTree>
    <p:extLst>
      <p:ext uri="{BB962C8B-B14F-4D97-AF65-F5344CB8AC3E}">
        <p14:creationId xmlns:p14="http://schemas.microsoft.com/office/powerpoint/2010/main" val="15331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highlight>
                  <a:srgbClr val="FFFF00"/>
                </a:highlight>
              </a:rPr>
              <a:t>Git</a:t>
            </a:r>
            <a:r>
              <a:rPr lang="en-US" altLang="zh-TW" dirty="0">
                <a:highlight>
                  <a:srgbClr val="FFFF00"/>
                </a:highlight>
              </a:rPr>
              <a:t> status </a:t>
            </a:r>
            <a:r>
              <a:rPr lang="en-US" altLang="zh-TW" dirty="0"/>
              <a:t>to check your local repository current status</a:t>
            </a:r>
            <a:endParaRPr lang="zh-TW" alt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75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9" y="0"/>
            <a:ext cx="12598399" cy="70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3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</a:t>
            </a:r>
            <a:r>
              <a:rPr lang="en-US" altLang="zh-TW" dirty="0"/>
              <a:t> add HelloGit.py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 add the HelloGit.py to the stage area</a:t>
            </a:r>
          </a:p>
          <a:p>
            <a:endParaRPr lang="zh-TW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2240756"/>
            <a:ext cx="8420100" cy="473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24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97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87350" cy="736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82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1690688"/>
            <a:ext cx="9239250" cy="51970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</a:t>
            </a:r>
            <a:r>
              <a:rPr lang="en-US" altLang="zh-TW" dirty="0"/>
              <a:t> add onefile.py antherfile.py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6603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</a:t>
            </a:r>
            <a:r>
              <a:rPr lang="en-US" altLang="zh-TW" dirty="0"/>
              <a:t> add .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4800" b="1" dirty="0" err="1">
                <a:solidFill>
                  <a:srgbClr val="C00000"/>
                </a:solidFill>
              </a:rPr>
              <a:t>git</a:t>
            </a:r>
            <a:r>
              <a:rPr lang="en-US" altLang="zh-TW" sz="4800" b="1" dirty="0">
                <a:solidFill>
                  <a:srgbClr val="C00000"/>
                </a:solidFill>
              </a:rPr>
              <a:t> add .</a:t>
            </a:r>
            <a:r>
              <a:rPr lang="en-US" altLang="zh-TW" sz="4800" dirty="0"/>
              <a:t>:</a:t>
            </a:r>
            <a:r>
              <a:rPr lang="en-US" altLang="zh-TW" sz="4800" b="1" dirty="0"/>
              <a:t> </a:t>
            </a:r>
            <a:r>
              <a:rPr lang="en-US" altLang="zh-TW" sz="4800" dirty="0"/>
              <a:t>we will add all files in your current workspace to the stage area. 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2292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</a:t>
            </a:r>
            <a:r>
              <a:rPr lang="en-US" altLang="zh-TW" dirty="0"/>
              <a:t> commit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 type </a:t>
            </a:r>
            <a:r>
              <a:rPr lang="en-US" altLang="zh-TW" dirty="0" err="1"/>
              <a:t>git</a:t>
            </a:r>
            <a:r>
              <a:rPr lang="en-US" altLang="zh-TW" dirty="0"/>
              <a:t> commit –m “message…” to commit any new changes are going to be control in local repository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29795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90500"/>
            <a:ext cx="11772900" cy="662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24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1050" cy="686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97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388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763" y="2759191"/>
            <a:ext cx="10515600" cy="1325563"/>
          </a:xfrm>
        </p:spPr>
        <p:txBody>
          <a:bodyPr/>
          <a:lstStyle/>
          <a:p>
            <a:r>
              <a:rPr lang="en-US" altLang="zh-TW" dirty="0" err="1"/>
              <a:t>Github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89007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Github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Sign up and sign in </a:t>
            </a:r>
            <a:r>
              <a:rPr lang="en-US" altLang="zh-TW" dirty="0" err="1"/>
              <a:t>Github</a:t>
            </a:r>
            <a:endParaRPr lang="en-US" altLang="zh-TW" dirty="0"/>
          </a:p>
          <a:p>
            <a:r>
              <a:rPr lang="en-US" altLang="zh-TW" dirty="0"/>
              <a:t>Please create a </a:t>
            </a:r>
            <a:r>
              <a:rPr lang="en-US" altLang="zh-TW" dirty="0">
                <a:solidFill>
                  <a:srgbClr val="FF0000"/>
                </a:solidFill>
              </a:rPr>
              <a:t>remote repository </a:t>
            </a:r>
            <a:r>
              <a:rPr lang="en-US" altLang="zh-TW" dirty="0"/>
              <a:t>on your </a:t>
            </a:r>
            <a:r>
              <a:rPr lang="en-US" altLang="zh-TW" dirty="0" err="1"/>
              <a:t>github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8524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002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379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Add your remote repository on your local repository </a:t>
            </a:r>
            <a:endParaRPr lang="zh-TW" alt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510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236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 push any changes on my local repository to the remote repository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…or push an existing repository from the command line</a:t>
            </a:r>
          </a:p>
          <a:p>
            <a:r>
              <a:rPr lang="en-US" altLang="zh-TW" dirty="0" err="1"/>
              <a:t>git</a:t>
            </a:r>
            <a:r>
              <a:rPr lang="en-US" altLang="zh-TW" dirty="0"/>
              <a:t> remote add origin https://github.com/sunnydavidli/2023week10_GitDemo.git</a:t>
            </a:r>
          </a:p>
          <a:p>
            <a:r>
              <a:rPr lang="en-US" altLang="zh-TW" dirty="0" err="1"/>
              <a:t>git</a:t>
            </a:r>
            <a:r>
              <a:rPr lang="en-US" altLang="zh-TW" dirty="0"/>
              <a:t> branch -M main</a:t>
            </a:r>
          </a:p>
          <a:p>
            <a:r>
              <a:rPr lang="en-US" altLang="zh-TW" dirty="0" err="1"/>
              <a:t>git</a:t>
            </a:r>
            <a:r>
              <a:rPr lang="en-US" altLang="zh-TW" dirty="0"/>
              <a:t> push -u origin main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9065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90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6791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305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Concepts of </a:t>
            </a:r>
            <a:r>
              <a:rPr lang="en-US" altLang="zh-TW" dirty="0" err="1"/>
              <a:t>Git</a:t>
            </a:r>
            <a:r>
              <a:rPr lang="en-US" altLang="zh-TW" dirty="0"/>
              <a:t> work flow with </a:t>
            </a:r>
            <a:r>
              <a:rPr lang="en-US" altLang="zh-TW" dirty="0" err="1"/>
              <a:t>Github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742" y="1393363"/>
            <a:ext cx="10515600" cy="4351338"/>
          </a:xfrm>
        </p:spPr>
        <p:txBody>
          <a:bodyPr/>
          <a:lstStyle/>
          <a:p>
            <a:r>
              <a:rPr lang="en-US" altLang="zh-TW" dirty="0"/>
              <a:t>Local repository is like your local project folder.</a:t>
            </a:r>
          </a:p>
          <a:p>
            <a:endParaRPr lang="zh-TW" altLang="en-US" dirty="0"/>
          </a:p>
        </p:txBody>
      </p:sp>
      <p:sp>
        <p:nvSpPr>
          <p:cNvPr id="4" name="Flowchart: Document 3"/>
          <p:cNvSpPr/>
          <p:nvPr/>
        </p:nvSpPr>
        <p:spPr>
          <a:xfrm>
            <a:off x="7990764" y="2743047"/>
            <a:ext cx="2959331" cy="215299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Local project folder (gitDemo2023):</a:t>
            </a:r>
          </a:p>
          <a:p>
            <a:pPr algn="ctr"/>
            <a:r>
              <a:rPr lang="en-US" altLang="zh-TW" dirty="0"/>
              <a:t>Python files, text file, figures, logs…</a:t>
            </a:r>
            <a:endParaRPr lang="zh-TW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785167" y="2373715"/>
            <a:ext cx="218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Workspace</a:t>
            </a:r>
            <a:endParaRPr lang="zh-TW" altLang="en-US" dirty="0"/>
          </a:p>
        </p:txBody>
      </p:sp>
      <p:sp>
        <p:nvSpPr>
          <p:cNvPr id="7" name="Flowchart: Magnetic Disk 6"/>
          <p:cNvSpPr/>
          <p:nvPr/>
        </p:nvSpPr>
        <p:spPr>
          <a:xfrm>
            <a:off x="2527069" y="2443942"/>
            <a:ext cx="2011680" cy="1862051"/>
          </a:xfrm>
          <a:prstGeom prst="flowChartMagneticDisk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002060"/>
                </a:solidFill>
              </a:rPr>
              <a:t>Local Repository</a:t>
            </a:r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52996" y="2036618"/>
            <a:ext cx="9200804" cy="4513811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Rounded Rectangle 8"/>
          <p:cNvSpPr/>
          <p:nvPr/>
        </p:nvSpPr>
        <p:spPr>
          <a:xfrm>
            <a:off x="5029200" y="4440607"/>
            <a:ext cx="2369976" cy="210473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Stage (index)</a:t>
            </a:r>
          </a:p>
          <a:p>
            <a:pPr algn="ctr"/>
            <a:r>
              <a:rPr lang="en-US" altLang="zh-TW" dirty="0"/>
              <a:t>Temporary save any new changed items</a:t>
            </a:r>
            <a:endParaRPr lang="zh-TW" altLang="en-US" dirty="0"/>
          </a:p>
        </p:txBody>
      </p:sp>
      <p:sp>
        <p:nvSpPr>
          <p:cNvPr id="10" name="Bent-Up Arrow 9"/>
          <p:cNvSpPr/>
          <p:nvPr/>
        </p:nvSpPr>
        <p:spPr>
          <a:xfrm rot="5218017" flipV="1">
            <a:off x="7703631" y="4159702"/>
            <a:ext cx="1686184" cy="2475541"/>
          </a:xfrm>
          <a:prstGeom prst="bent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546723" y="5560035"/>
            <a:ext cx="161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git</a:t>
            </a:r>
            <a:r>
              <a:rPr lang="en-US" altLang="zh-TW" dirty="0"/>
              <a:t> add …</a:t>
            </a:r>
            <a:endParaRPr lang="zh-TW" altLang="en-US" dirty="0"/>
          </a:p>
        </p:txBody>
      </p:sp>
      <p:sp>
        <p:nvSpPr>
          <p:cNvPr id="12" name="Left Arrow 11"/>
          <p:cNvSpPr/>
          <p:nvPr/>
        </p:nvSpPr>
        <p:spPr>
          <a:xfrm rot="2840463">
            <a:off x="3102650" y="4440607"/>
            <a:ext cx="1823913" cy="956865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464629" y="5016736"/>
            <a:ext cx="161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Commit </a:t>
            </a:r>
            <a:endParaRPr lang="zh-TW" altLang="en-US" dirty="0"/>
          </a:p>
        </p:txBody>
      </p:sp>
      <p:sp>
        <p:nvSpPr>
          <p:cNvPr id="14" name="Snip Diagonal Corner Rectangle 13"/>
          <p:cNvSpPr/>
          <p:nvPr/>
        </p:nvSpPr>
        <p:spPr>
          <a:xfrm>
            <a:off x="9637167" y="4089719"/>
            <a:ext cx="2479848" cy="882669"/>
          </a:xfrm>
          <a:prstGeom prst="snip2Diag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AnotherModule.py</a:t>
            </a:r>
          </a:p>
        </p:txBody>
      </p:sp>
      <p:sp>
        <p:nvSpPr>
          <p:cNvPr id="15" name="Snip Diagonal Corner Rectangle 14"/>
          <p:cNvSpPr/>
          <p:nvPr/>
        </p:nvSpPr>
        <p:spPr>
          <a:xfrm>
            <a:off x="5136525" y="5838867"/>
            <a:ext cx="2479848" cy="882669"/>
          </a:xfrm>
          <a:prstGeom prst="snip2Diag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Hello.py</a:t>
            </a:r>
          </a:p>
        </p:txBody>
      </p:sp>
      <p:sp>
        <p:nvSpPr>
          <p:cNvPr id="16" name="Snip Diagonal Corner Rectangle 15"/>
          <p:cNvSpPr/>
          <p:nvPr/>
        </p:nvSpPr>
        <p:spPr>
          <a:xfrm>
            <a:off x="3734340" y="2373715"/>
            <a:ext cx="2479848" cy="882669"/>
          </a:xfrm>
          <a:prstGeom prst="snip2Diag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HelloGit.py</a:t>
            </a:r>
          </a:p>
          <a:p>
            <a:pPr algn="ctr"/>
            <a:r>
              <a:rPr lang="en-US" altLang="zh-TW" dirty="0"/>
              <a:t>AnotherModule.py</a:t>
            </a:r>
          </a:p>
          <a:p>
            <a:pPr algn="ctr"/>
            <a:r>
              <a:rPr lang="en-US" altLang="zh-TW" dirty="0"/>
              <a:t>DataAnalysis.py</a:t>
            </a:r>
          </a:p>
        </p:txBody>
      </p:sp>
      <p:sp>
        <p:nvSpPr>
          <p:cNvPr id="17" name="Flowchart: Magnetic Disk 16"/>
          <p:cNvSpPr/>
          <p:nvPr/>
        </p:nvSpPr>
        <p:spPr>
          <a:xfrm>
            <a:off x="-106381" y="2325358"/>
            <a:ext cx="2011680" cy="1862051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002060"/>
                </a:solidFill>
              </a:rPr>
              <a:t>Remote Repository</a:t>
            </a:r>
          </a:p>
          <a:p>
            <a:pPr algn="ctr"/>
            <a:r>
              <a:rPr lang="en-US" altLang="zh-TW" dirty="0">
                <a:solidFill>
                  <a:srgbClr val="002060"/>
                </a:solidFill>
              </a:rPr>
              <a:t>(</a:t>
            </a:r>
            <a:r>
              <a:rPr lang="en-US" altLang="zh-TW" dirty="0" err="1">
                <a:solidFill>
                  <a:srgbClr val="002060"/>
                </a:solidFill>
              </a:rPr>
              <a:t>github</a:t>
            </a:r>
            <a:r>
              <a:rPr lang="en-US" altLang="zh-TW" dirty="0">
                <a:solidFill>
                  <a:srgbClr val="002060"/>
                </a:solidFill>
              </a:rPr>
              <a:t>)</a:t>
            </a:r>
            <a:endParaRPr lang="zh-TW" alt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601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572</Words>
  <Application>Microsoft Office PowerPoint</Application>
  <PresentationFormat>Widescreen</PresentationFormat>
  <Paragraphs>83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Lucida Console</vt:lpstr>
      <vt:lpstr>Office Theme</vt:lpstr>
      <vt:lpstr>Git and Github</vt:lpstr>
      <vt:lpstr>Git</vt:lpstr>
      <vt:lpstr>What is Git?</vt:lpstr>
      <vt:lpstr>Important concepts of Git</vt:lpstr>
      <vt:lpstr>Download the Git </vt:lpstr>
      <vt:lpstr>Install the git on your computer</vt:lpstr>
      <vt:lpstr>PowerPoint Presentation</vt:lpstr>
      <vt:lpstr>PowerPoint Presentation</vt:lpstr>
      <vt:lpstr>PowerPoint Presentation</vt:lpstr>
      <vt:lpstr>How to use the Git?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Configure your local repository </vt:lpstr>
      <vt:lpstr>PowerPoint Presentation</vt:lpstr>
      <vt:lpstr>We check the configuration of Git on your local repository</vt:lpstr>
      <vt:lpstr>Concepts of Git work flow</vt:lpstr>
      <vt:lpstr>Git status to check your local repository current status</vt:lpstr>
      <vt:lpstr>PowerPoint Presentation</vt:lpstr>
      <vt:lpstr>Git add HelloGit.py</vt:lpstr>
      <vt:lpstr>PowerPoint Presentation</vt:lpstr>
      <vt:lpstr>PowerPoint Presentation</vt:lpstr>
      <vt:lpstr>Git add onefile.py antherfile.py</vt:lpstr>
      <vt:lpstr>Git add .</vt:lpstr>
      <vt:lpstr>Git commit</vt:lpstr>
      <vt:lpstr>PowerPoint Presentation</vt:lpstr>
      <vt:lpstr>PowerPoint Presentation</vt:lpstr>
      <vt:lpstr>PowerPoint Presentation</vt:lpstr>
      <vt:lpstr>Github</vt:lpstr>
      <vt:lpstr>Github</vt:lpstr>
      <vt:lpstr>PowerPoint Presentation</vt:lpstr>
      <vt:lpstr>PowerPoint Presentation</vt:lpstr>
      <vt:lpstr>Add your remote repository on your local repository </vt:lpstr>
      <vt:lpstr>PowerPoint Presentation</vt:lpstr>
      <vt:lpstr>We push any changes on my local repository to the remote repository</vt:lpstr>
      <vt:lpstr>PowerPoint Presentation</vt:lpstr>
      <vt:lpstr>PowerPoint Presentation</vt:lpstr>
      <vt:lpstr>PowerPoint Presentation</vt:lpstr>
      <vt:lpstr>Concepts of Git work flow with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and Github</dc:title>
  <dc:creator>Administrator</dc:creator>
  <cp:lastModifiedBy>mcu</cp:lastModifiedBy>
  <cp:revision>45</cp:revision>
  <dcterms:created xsi:type="dcterms:W3CDTF">2023-03-09T01:39:03Z</dcterms:created>
  <dcterms:modified xsi:type="dcterms:W3CDTF">2026-05-28T03:10:43Z</dcterms:modified>
</cp:coreProperties>
</file>